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PantryPlate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Multi-constraint recipe recommendation balancing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taste, pantry, nutrition, and dietary restrictions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A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of how recommendations evolve as users tune the relative importance of competing objectives.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 ·  Project 2 Proposal  ·  3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should I cook tonight?”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than existing recommenders treat it 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cooks juggle four constraints simultaneously: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874520" cy="1005840"/>
          </a:xfrm>
          <a:prstGeom prst="rect">
            <a:avLst/>
          </a:prstGeom>
          <a:solidFill>
            <a:srgbClr val="F8F7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54864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 hand and available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2286000"/>
            <a:ext cx="1874520" cy="1005840"/>
          </a:xfrm>
          <a:prstGeom prst="rect">
            <a:avLst/>
          </a:prstGeom>
          <a:solidFill>
            <a:srgbClr val="F8F7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2286000"/>
            <a:ext cx="54864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2587752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87752" y="2697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and macro alignment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43984" y="2286000"/>
            <a:ext cx="1874520" cy="1005840"/>
          </a:xfrm>
          <a:prstGeom prst="rect">
            <a:avLst/>
          </a:prstGeom>
          <a:solidFill>
            <a:srgbClr val="F8F7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43984" y="2286000"/>
            <a:ext cx="54864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4581144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81144" y="2697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Vegetarian, gluten-free, allergens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37376" y="2286000"/>
            <a:ext cx="1874520" cy="1005840"/>
          </a:xfrm>
          <a:prstGeom prst="rect">
            <a:avLst/>
          </a:prstGeom>
          <a:solidFill>
            <a:srgbClr val="F8F7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2286000"/>
            <a:ext cx="54864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6574536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74536" y="2697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they'd actually enjoy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F5E6D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657600"/>
            <a:ext cx="73152" cy="868680"/>
          </a:xfrm>
          <a:prstGeom prst="rect">
            <a:avLst/>
          </a:prstGeom>
          <a:solidFill>
            <a:srgbClr val="C2693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recommenders (Spoonacular, MyFitnessPal, Eat This Much) optimize for one constraint at a time. None model the trade-off explicitly.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significance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 as our research object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multi-constraint balancing the unit of study, not a side-effect.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recommender that explicitly models the joint trade-off between four objectives, and study how recommendations evolve as users tune the relative weights.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solidFill>
            <a:srgbClr val="EAF1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834640"/>
            <a:ext cx="73152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07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HYPOTHESIS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multi-objective ranking produces qualitatively better recommendations than single-objective optimization on a composite usefulness metric.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slider between objectives isn't a UI feature — it's the empirical finding.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and X-factor framing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Food.com via Kaggle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user-recipe interactions at scale. No scraping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24328" cy="68580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7452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231,637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18688" y="1828800"/>
            <a:ext cx="2624328" cy="68580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87452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55848" y="210312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1.13M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80176" y="1828800"/>
            <a:ext cx="2624328" cy="68580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6117336" y="187452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17336" y="210312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226,570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2670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PRE-SPLIT  ·  TRAIN / VALIDATION / TEST  (MAJUMDER ET AL. 2019)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90088"/>
            <a:ext cx="2624328" cy="1234440"/>
          </a:xfrm>
          <a:prstGeom prst="rect">
            <a:avLst/>
          </a:prstGeom>
          <a:solidFill>
            <a:srgbClr val="EAF1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90088"/>
            <a:ext cx="2624328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12724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3375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698,901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4360" y="3749040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904488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24,961 active users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05079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model fitting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18688" y="2990088"/>
            <a:ext cx="2624328" cy="1234440"/>
          </a:xfrm>
          <a:prstGeom prst="rect">
            <a:avLst/>
          </a:prstGeom>
          <a:solidFill>
            <a:srgbClr val="F5E6DC"/>
          </a:solidFill>
          <a:ln/>
        </p:spPr>
      </p:sp>
      <p:sp>
        <p:nvSpPr>
          <p:cNvPr id="25" name="Shape 23"/>
          <p:cNvSpPr/>
          <p:nvPr/>
        </p:nvSpPr>
        <p:spPr>
          <a:xfrm>
            <a:off x="3218688" y="2990088"/>
            <a:ext cx="2624328" cy="73152"/>
          </a:xfrm>
          <a:prstGeom prst="rect">
            <a:avLst/>
          </a:prstGeom>
          <a:solidFill>
            <a:srgbClr val="C2693C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312724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55848" y="33375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7,023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355848" y="3749040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positives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5848" y="3904488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user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55848" y="405079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hyperparameter tuning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0176" y="2990088"/>
            <a:ext cx="2624328" cy="1234440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32" name="Shape 30"/>
          <p:cNvSpPr/>
          <p:nvPr/>
        </p:nvSpPr>
        <p:spPr>
          <a:xfrm>
            <a:off x="5980176" y="2990088"/>
            <a:ext cx="2624328" cy="73152"/>
          </a:xfrm>
          <a:prstGeom prst="rect">
            <a:avLst/>
          </a:prstGeom>
          <a:solidFill>
            <a:srgbClr val="5B7C99"/>
          </a:solidFill>
          <a:ln/>
        </p:spPr>
      </p:sp>
      <p:sp>
        <p:nvSpPr>
          <p:cNvPr id="33" name="Text 31"/>
          <p:cNvSpPr/>
          <p:nvPr/>
        </p:nvSpPr>
        <p:spPr>
          <a:xfrm>
            <a:off x="6117336" y="312724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17336" y="33375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10,393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117336" y="3749040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positives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17336" y="3904488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user, novel recipes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17336" y="405079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final evaluation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343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range 2000–2018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 of ratings are 4+ stars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nutrition coverage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8,023 canonical ingredients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5902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Majumder et al., EMNLP 2019  ·  kaggle.com/datasets/shuyangli94/food-com-recipes-and-user-interactions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oup_pages/pag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0" y="182880"/>
            <a:ext cx="822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oup_pages/pag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0" y="182880"/>
            <a:ext cx="822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oup_pages/pag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0" y="182880"/>
            <a:ext cx="822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Two-stage pipeline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Recsys learning in Stage 1; constraint reasoning in Stage 2.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74520"/>
            <a:ext cx="54864" cy="457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167128"/>
            <a:ext cx="7680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history  ·  pantry  ·  macro targets  ·  dietary restrictions  ·  α-weights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7863840" cy="685800"/>
          </a:xfrm>
          <a:prstGeom prst="rect">
            <a:avLst/>
          </a:prstGeom>
          <a:solidFill>
            <a:srgbClr val="EAF1DD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468880"/>
            <a:ext cx="54864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146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CANDIDATE GENERATION (REAL RECSYS)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7614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MF, EASE, BPR, content TF-IDF, Sentence-BERT, hybrid, two-tower neural, sequential — learns taste from observed ratings. Returns top-200 candidates.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7863840" cy="685800"/>
          </a:xfrm>
          <a:prstGeom prst="rect">
            <a:avLst/>
          </a:prstGeom>
          <a:solidFill>
            <a:srgbClr val="F5E6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91840"/>
            <a:ext cx="54864" cy="685800"/>
          </a:xfrm>
          <a:prstGeom prst="rect">
            <a:avLst/>
          </a:prstGeom>
          <a:solidFill>
            <a:srgbClr val="C2693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375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·  MULTI-CONSTRAINT RERANKING (X-FACTOR)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5844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candidate on taste × pantry × nutrition × diet. Combines via α-weighting. Returns top-10.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114800"/>
            <a:ext cx="54864" cy="457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recommendations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2359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3182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4005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Recsys is the project. Constraints are how we extend it.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paradigms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recipe apps face two scenarios. Each needs a different family of models.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690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4069080" cy="365760"/>
          </a:xfrm>
          <a:prstGeom prst="rect">
            <a:avLst/>
          </a:prstGeom>
          <a:solidFill>
            <a:srgbClr val="EAF1D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rating co-occurrence — who rated what, finds taste-similar users.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670048"/>
            <a:ext cx="3337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1576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8986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users like me like?”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369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Wins on WARM-ITEM recommendation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575304"/>
            <a:ext cx="3337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2102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80390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has no rater history — zero signal to extrapolate from.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691640"/>
            <a:ext cx="40690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691640"/>
            <a:ext cx="4069080" cy="365760"/>
          </a:xfrm>
          <a:prstGeom prst="rect">
            <a:avLst/>
          </a:prstGeom>
          <a:solidFill>
            <a:srgbClr val="F5E6DC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691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148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recipe content directly — ingredients, tags, nutrition, name, description.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2670048"/>
            <a:ext cx="3337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71576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28986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“Who'd like this new recipe?”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2369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Wins on COLD-ITEM recommendation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3575304"/>
            <a:ext cx="3337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62102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80390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generic; doesn't capture nuanced user-specific taste.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251960"/>
            <a:ext cx="73152" cy="502920"/>
          </a:xfrm>
          <a:prstGeom prst="rect">
            <a:avLst/>
          </a:prstGeom>
          <a:solidFill>
            <a:srgbClr val="5B7C9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51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— BEST OF BOTH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Combines CF taste signal with content features. The only family that handles </a:t>
            </a:r>
            <a:pPr indent="0" marL="0">
              <a:buNone/>
            </a:pPr>
            <a:r>
              <a:rPr lang="en-US" sz="11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warm and cold scenarios.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paradigms  ·  Stage 1 implementations via Cornac (Salah et al. 2020)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RERANKER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constraint scores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X-factor lives.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69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s_taste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predicted relevance from Stage 1  (continuous, [0,1])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12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69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s_pantry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1122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non-staple ingredient overlap, soft ranking signal  (continuous, [0,1])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41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69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s_nutrition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4414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Gaussian proximity to macro targets  (continuous, [0,1])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69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s_diet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7706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hard filter: 1 if all restrictions met, 0 otherwise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8F7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final(u, r)  =  s_diet  ×  (αt · s_taste  +  αp · s_pantry  +  αn · s_nutrition)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s_diet is a hard filter; the other three are continuous ranking signals — weighted, never excluding. For dietary restrictions without tag coverage (keto, paleo, whole30, lactose-free, halal, low-sugar), s_diet is derived from macros plus an ingredient blocklist.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F5E6D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343400"/>
            <a:ext cx="73152" cy="457200"/>
          </a:xfrm>
          <a:prstGeom prst="rect">
            <a:avLst/>
          </a:prstGeom>
          <a:solidFill>
            <a:srgbClr val="C269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70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553712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(αt, αp, αn) simplex. Where on this surface do recommendations land, and what does the optimal balance look like?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— Stage 2 reranker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X-FACTOR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α-sweep study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curve is the headline empirical result.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sweep α across the simplex and measure how each metric shifts.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86000"/>
            <a:ext cx="54864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1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single-objective optimization produces worse Useful Recall@K than balanced ranking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80360"/>
            <a:ext cx="54864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2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optimal α-weighting differs by user type — fitness-focused users weight nutrition higher; budget cooks weight pantry higher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74720"/>
            <a:ext cx="54864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3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as constraints tighten, learned taste signal remains material — distinguishing this from pure filtering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5E6DC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069080"/>
            <a:ext cx="73152" cy="640080"/>
          </a:xfrm>
          <a:prstGeom prst="rect">
            <a:avLst/>
          </a:prstGeom>
          <a:solidFill>
            <a:srgbClr val="C269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PLOT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Useful Recall@K vs α-position. Inflection point visible. Per-persona overlays.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both evaluation tracks — warm-item LOO and cold-item — so we can study how the trade-off shifts across scenarios.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X-factor — what we'll learn that's new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WHAT WE MEASURE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categories of metric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plays a distinct role. Together they evaluate the full system.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97480" cy="2377440"/>
          </a:xfrm>
          <a:prstGeom prst="rect">
            <a:avLst/>
          </a:prstGeom>
          <a:solidFill>
            <a:srgbClr val="EAF1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26974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the model guess right?"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697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Recall@5, @10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3260" y="1828800"/>
            <a:ext cx="2697480" cy="2377440"/>
          </a:xfrm>
          <a:prstGeom prst="rect">
            <a:avLst/>
          </a:prstGeom>
          <a:solidFill>
            <a:srgbClr val="F5E6DC"/>
          </a:solidFill>
          <a:ln/>
        </p:spPr>
      </p:sp>
      <p:sp>
        <p:nvSpPr>
          <p:cNvPr id="13" name="Shape 11"/>
          <p:cNvSpPr/>
          <p:nvPr/>
        </p:nvSpPr>
        <p:spPr>
          <a:xfrm>
            <a:off x="3223260" y="1828800"/>
            <a:ext cx="2697480" cy="54864"/>
          </a:xfrm>
          <a:prstGeom prst="rect">
            <a:avLst/>
          </a:prstGeom>
          <a:solidFill>
            <a:srgbClr val="C2693C"/>
          </a:solidFill>
          <a:ln/>
        </p:spPr>
      </p:sp>
      <p:sp>
        <p:nvSpPr>
          <p:cNvPr id="14" name="Text 12"/>
          <p:cNvSpPr/>
          <p:nvPr/>
        </p:nvSpPr>
        <p:spPr>
          <a:xfrm>
            <a:off x="3387852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7852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output have desired properties?"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7852" y="2697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Hit Rate@K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Adherence@K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Compliance@K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1828800"/>
            <a:ext cx="2697480" cy="2377440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18" name="Shape 16"/>
          <p:cNvSpPr/>
          <p:nvPr/>
        </p:nvSpPr>
        <p:spPr>
          <a:xfrm>
            <a:off x="5989320" y="1828800"/>
            <a:ext cx="2697480" cy="54864"/>
          </a:xfrm>
          <a:prstGeom prst="rect">
            <a:avLst/>
          </a:prstGeom>
          <a:solidFill>
            <a:srgbClr val="5B7C99"/>
          </a:solidFill>
          <a:ln/>
        </p:spPr>
      </p:sp>
      <p:sp>
        <p:nvSpPr>
          <p:cNvPr id="19" name="Text 17"/>
          <p:cNvSpPr/>
          <p:nvPr/>
        </p:nvSpPr>
        <p:spPr>
          <a:xfrm>
            <a:off x="6153912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(signature)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53912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"both at once"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53912" y="2697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Recall@K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Multi-Constraint Score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α-sweep curves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CIs on all means. Wilcoxon signed-rank for model-vs-model comparisons.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metrics overview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GROUND TRUTH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“ground truth” actually means here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canonical “correct top-10.” So what do we compare against?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reframing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model is given a user's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ratings and asked to predict their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4069080" cy="1554480"/>
          </a:xfrm>
          <a:prstGeom prst="rect">
            <a:avLst/>
          </a:prstGeom>
          <a:solidFill>
            <a:srgbClr val="EAF1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606040"/>
            <a:ext cx="73152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METRICS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= the recipe a user actually rated next in held-out data. We grade the model on whether that recipe appears in its top-K recommendations from the rest of the catalog.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2606040"/>
            <a:ext cx="4069080" cy="1554480"/>
          </a:xfrm>
          <a:prstGeom prst="rect">
            <a:avLst/>
          </a:prstGeom>
          <a:solidFill>
            <a:srgbClr val="F5E6DC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2606040"/>
            <a:ext cx="73152" cy="1554480"/>
          </a:xfrm>
          <a:prstGeom prst="rect">
            <a:avLst/>
          </a:prstGeom>
          <a:solidFill>
            <a:srgbClr val="C2693C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697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METRICS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9718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ground-truth labels needed. Computed deterministically: does this recipe fit the user's pantry? Does it hit the macro targets? Yes / no, by simple comparison.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“user's real next behavior” is the only ground truth we can defend. The constraint side doesn't need ground truth — it's checked mechanically.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what counts as truth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PROTOCOL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leave-one-out protocol, step by step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user with sufficient interactions.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19656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user's ratings by date.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Most recent first.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the user's most recent positive rating.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Definition of "positive": 4 stars or higher.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42616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060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 on all earlier ratings.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model never sees the held-out item.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0175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for a top-10 recommendation list.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 the full catalog, excluding already-rated items.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4290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held-out recipe is in that top-10.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yes, it's a hit for that user.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77056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8404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across all users.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 across users gives Recall@10, NDCG@10, MRR.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cohort: 24,961 active users from the authors' pre-split train, with ~658K training interactions after holding out the most-recent positive per user (~24,382 held-out positives). Track B uses the authors' pre-split test directly (10,393 cold-item held-outs). See next slide for the dual-track design.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protocol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DUAL-TRACK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evaluation regimes, same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recipe apps face both scenarios — we evaluate on both.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69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4069080" cy="365760"/>
          </a:xfrm>
          <a:prstGeom prst="rect">
            <a:avLst/>
          </a:prstGeom>
          <a:solidFill>
            <a:srgbClr val="EAF1D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 ·  WARM-ITEM  (standard CF)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08760" y="21214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~24K positives, time-based LOO on train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4140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08760" y="24140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have median 20 raters in train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066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08760" y="27066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next item from the known library?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9992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08760" y="2999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Stage 1 models compete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508760" y="32918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Recall@10 ≈ 3.0%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5844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08760" y="35844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“Trending recipes among users like me”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1691640"/>
            <a:ext cx="4069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1691640"/>
            <a:ext cx="4069080" cy="365760"/>
          </a:xfrm>
          <a:prstGeom prst="rect">
            <a:avLst/>
          </a:prstGeom>
          <a:solidFill>
            <a:srgbClr val="F5E6DC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691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COLD-ITEM  (content-aware)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121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0" y="21214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10,393 positives, authors' test split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24140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0" y="24140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have 0 raters in train (cold by design)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7066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69280" y="27066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novel recipe, before anyone has rated it?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29992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0" y="2999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Content-aware only: TF-IDF, BERT, hybrid, 2-tower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2918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0" y="32918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 — popularity has no signal for unseen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35844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0" y="35844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“Surface new recipes before they go viral”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3977640"/>
            <a:ext cx="73152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9776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Different models win different regimes. CF-only dominates warm; content-aware dominates cold. Only the hybrid handles both — the architectural payoff. The Stage 2 reranker and α-sweep run on both tracks.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5445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apps need both. PantryPlate evaluates on both.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dual-track design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USEFUL RECALL@K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signature metric in plain language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Useful Recall@K specific to PantryPlate.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Recall@K asks one question: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75104"/>
            <a:ext cx="8229600" cy="347472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751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model rank a known future positive interaction in the top-K?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14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Recall@K asks </a:t>
            </a:r>
            <a:pPr indent="0" marL="0">
              <a:buNone/>
            </a:pPr>
            <a:r>
              <a:rPr lang="en-US" sz="1300" b="1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8229600" cy="548640"/>
          </a:xfrm>
          <a:prstGeom prst="rect">
            <a:avLst/>
          </a:prstGeom>
          <a:solidFill>
            <a:srgbClr val="F5E6D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Did the model rank a known future positive interaction in the top-K?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AND does that recommendation satisfy all of the user's constraints?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10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recommendation to count as useful, the held-out recipe must appear in the top-K AND satisfy: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Pantry: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missing ≤ 3 non-staple ingredients (we assume universal staples — salt, oil, flour, eggs — are always available; EDA showed even with staples assumed, ~25% of recipes meet this threshold — discriminative and intuitive)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Nutrition: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±20% of the user's macro targets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Diet: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dietary restrictions respected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model performance and constraint awareness combine into a single number. </a:t>
            </a:r>
            <a:pPr indent="0" marL="0">
              <a:buNone/>
            </a:pPr>
            <a:r>
              <a:rPr lang="en-US" sz="1100" b="1" i="1" dirty="0">
                <a:solidFill>
                  <a:srgbClr val="C2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Recall@K and Useful Recall@K side by side — the gap between them is the project's contribution.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signature metric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oup_pages/page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GOAL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Vision-based ingredient input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0332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stretch goal — only pursued if the recsys is on track at the Week 4 progress gate.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oup_pages/page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GOAL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Shelf-life prioritization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0332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stretch goal — would extend the reranker with a 5th constraint (s_shelf) if pursued.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GOAL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PantryPlate evolves from baseline to stretch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recsys core stays constant; reach goals extend inputs and outputs.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624328" cy="365760"/>
          </a:xfrm>
          <a:prstGeom prst="rect">
            <a:avLst/>
          </a:prstGeom>
          <a:solidFill>
            <a:srgbClr val="EAF1D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original problem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624328" cy="548640"/>
          </a:xfrm>
          <a:prstGeom prst="rect">
            <a:avLst/>
          </a:prstGeom>
          <a:solidFill>
            <a:srgbClr val="EAF1D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00400"/>
            <a:ext cx="54864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200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86484" y="3785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2624328" cy="548640"/>
          </a:xfrm>
          <a:prstGeom prst="rect">
            <a:avLst/>
          </a:prstGeom>
          <a:solidFill>
            <a:srgbClr val="EAF1D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77640"/>
            <a:ext cx="54864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held-out 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64408" y="1874520"/>
            <a:ext cx="2624328" cy="365760"/>
          </a:xfrm>
          <a:prstGeom prst="rect">
            <a:avLst/>
          </a:prstGeom>
          <a:solidFill>
            <a:srgbClr val="F5E6DC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187452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6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Reach Goal 1 (CV)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64408" y="2423160"/>
            <a:ext cx="2624328" cy="548640"/>
          </a:xfrm>
          <a:prstGeom prst="rect">
            <a:avLst/>
          </a:prstGeom>
          <a:solidFill>
            <a:srgbClr val="F5E6D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4408" y="2423160"/>
            <a:ext cx="54864" cy="548640"/>
          </a:xfrm>
          <a:prstGeom prst="rect">
            <a:avLst/>
          </a:prstGeom>
          <a:solidFill>
            <a:srgbClr val="C2693C"/>
          </a:solidFill>
          <a:ln/>
        </p:spPr>
      </p:sp>
      <p:sp>
        <p:nvSpPr>
          <p:cNvPr id="20" name="Text 18"/>
          <p:cNvSpPr/>
          <p:nvPr/>
        </p:nvSpPr>
        <p:spPr>
          <a:xfrm>
            <a:off x="3374136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93692" y="30083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64408" y="3200400"/>
            <a:ext cx="2624328" cy="548640"/>
          </a:xfrm>
          <a:prstGeom prst="rect">
            <a:avLst/>
          </a:prstGeom>
          <a:solidFill>
            <a:srgbClr val="EAF1D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64408" y="3200400"/>
            <a:ext cx="54864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3374136" y="3200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93692" y="3785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64408" y="3977640"/>
            <a:ext cx="2624328" cy="548640"/>
          </a:xfrm>
          <a:prstGeom prst="rect">
            <a:avLst/>
          </a:prstGeom>
          <a:solidFill>
            <a:srgbClr val="EAF1D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64408" y="3977640"/>
            <a:ext cx="54864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3374136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held-out set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62472" y="1874520"/>
            <a:ext cx="2624328" cy="365760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30" name="Text 28"/>
          <p:cNvSpPr/>
          <p:nvPr/>
        </p:nvSpPr>
        <p:spPr>
          <a:xfrm>
            <a:off x="6153912" y="187452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Real-use case (both reach goals)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62472" y="2423160"/>
            <a:ext cx="2624328" cy="548640"/>
          </a:xfrm>
          <a:prstGeom prst="rect">
            <a:avLst/>
          </a:prstGeom>
          <a:solidFill>
            <a:srgbClr val="F5E6D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62472" y="2423160"/>
            <a:ext cx="54864" cy="548640"/>
          </a:xfrm>
          <a:prstGeom prst="rect">
            <a:avLst/>
          </a:prstGeom>
          <a:solidFill>
            <a:srgbClr val="C2693C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91756" y="30083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62472" y="3200400"/>
            <a:ext cx="2624328" cy="548640"/>
          </a:xfrm>
          <a:prstGeom prst="rect">
            <a:avLst/>
          </a:prstGeom>
          <a:solidFill>
            <a:srgbClr val="EAF1D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62472" y="3200400"/>
            <a:ext cx="54864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3200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91756" y="3785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062472" y="3977640"/>
            <a:ext cx="2624328" cy="548640"/>
          </a:xfrm>
          <a:prstGeom prst="rect">
            <a:avLst/>
          </a:prstGeom>
          <a:solidFill>
            <a:srgbClr val="E8EF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62472" y="3977640"/>
            <a:ext cx="54864" cy="548640"/>
          </a:xfrm>
          <a:prstGeom prst="rect">
            <a:avLst/>
          </a:prstGeom>
          <a:solidFill>
            <a:srgbClr val="5B7C99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Shelf-life prioritization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goal roadmap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Six-week schedule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May 13 to presentation on June 24.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13–19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 ·  sanity checks  ·  EDA  ·  feasibility analysis  ·  popularity baseline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12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20–26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212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 ·  MF  ·  EASE  ·  BPR  ·  content TF-IDF  ·  Sentence-BERT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968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5968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27–Jun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5968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+ two-tower neural  ·  results table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78040" y="2660904"/>
            <a:ext cx="1417320" cy="237744"/>
          </a:xfrm>
          <a:prstGeom prst="rect">
            <a:avLst/>
          </a:prstGeom>
          <a:solidFill>
            <a:srgbClr val="C2693C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26609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due Jun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46704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80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9809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3–9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2980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reranker  ·  personas (25–35-item pantries)  ·  Reach Goal decision gate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64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3649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10–16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3364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α-sweep experiments  ·  ablations  ·  Reach Goal integration (if go)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49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17–23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·  slides  ·  demo polish  ·  physical prop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78040" y="3813048"/>
            <a:ext cx="1417320" cy="237744"/>
          </a:xfrm>
          <a:prstGeom prst="rect">
            <a:avLst/>
          </a:prstGeom>
          <a:solidFill>
            <a:srgbClr val="C2693C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38130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Jun 24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PantryPlate — Project 2 Proposal</dc:title>
  <dc:subject>PptxGenJS Presentation</dc:subject>
  <dc:creator>PantryPlate team</dc:creator>
  <cp:lastModifiedBy>PantryPlate team</cp:lastModifiedBy>
  <cp:revision>1</cp:revision>
  <dcterms:created xsi:type="dcterms:W3CDTF">2026-06-01T03:23:32Z</dcterms:created>
  <dcterms:modified xsi:type="dcterms:W3CDTF">2026-06-01T03:23:32Z</dcterms:modified>
</cp:coreProperties>
</file>